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ynta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920240" cy="10138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1945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Automating EBS Contract Renewals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56616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EB4E6"/>
                </a:solidFill>
                <a:latin typeface="Calibri"/>
              </a:rPr>
              <a:t>An AI agent for Blanket Purchase Agreement renewals — built with the Oracle Private Agent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572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F4F7FC"/>
                </a:solidFill>
                <a:latin typeface="Calibri"/>
              </a:rPr>
              <a:t>Syntax Corporation  ·  Private Agent Factory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502920" y="457200"/>
            <a:ext cx="201168" cy="201168"/>
          </a:xfrm>
          <a:prstGeom prst="triangle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32A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41F66"/>
                </a:solidFill>
                <a:latin typeface="Georgia"/>
              </a:rPr>
              <a:t>Renewals are a slow, error-prone 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697480" cy="23774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697480" cy="73152"/>
          </a:xfrm>
          <a:prstGeom prst="rect">
            <a:avLst/>
          </a:prstGeom>
          <a:solidFill>
            <a:srgbClr val="5B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99339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632A0"/>
                </a:solidFill>
                <a:latin typeface="Georgia"/>
              </a:rPr>
              <a:t>Manual &amp; tedious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487168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6203A"/>
                </a:solidFill>
                <a:latin typeface="Calibri"/>
              </a:rPr>
              <a:t>Buyers re-key supplier price lists into EBS interface tables, agreement by agreement.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4408" y="1828800"/>
            <a:ext cx="2697480" cy="23774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4408" y="1828800"/>
            <a:ext cx="2697480" cy="73152"/>
          </a:xfrm>
          <a:prstGeom prst="rect">
            <a:avLst/>
          </a:prstGeom>
          <a:solidFill>
            <a:srgbClr val="F1D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99339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632A0"/>
                </a:solidFill>
                <a:latin typeface="Georgia"/>
              </a:rPr>
              <a:t>Escalation creep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487168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6203A"/>
                </a:solidFill>
                <a:latin typeface="Calibri"/>
              </a:rPr>
              <a:t>Above-market price increases slip through; no consistent tolerance is applied.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71616" y="1828800"/>
            <a:ext cx="2697480" cy="23774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71616" y="1828800"/>
            <a:ext cx="2697480" cy="73152"/>
          </a:xfrm>
          <a:prstGeom prst="rect">
            <a:avLst/>
          </a:prstGeom>
          <a:solidFill>
            <a:srgbClr val="1EB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9339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632A0"/>
                </a:solidFill>
                <a:latin typeface="Georgia"/>
              </a:rPr>
              <a:t>Coverage gaps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6208" y="2487168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6203A"/>
                </a:solidFill>
                <a:latin typeface="Calibri"/>
              </a:rPr>
              <a:t>Agreements lapse or overlap; renewals miss the contiguous term.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78824" y="1828800"/>
            <a:ext cx="2697480" cy="237744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78824" y="1828800"/>
            <a:ext cx="2697480" cy="73152"/>
          </a:xfrm>
          <a:prstGeom prst="rect">
            <a:avLst/>
          </a:prstGeom>
          <a:solidFill>
            <a:srgbClr val="3CC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43416" y="1993392"/>
            <a:ext cx="23682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632A0"/>
                </a:solidFill>
                <a:latin typeface="Georgia"/>
              </a:rPr>
              <a:t>No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487168"/>
            <a:ext cx="2368296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6203A"/>
                </a:solidFill>
                <a:latin typeface="Calibri"/>
              </a:rPr>
              <a:t>Hard to show why a renewal was accepted or held.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577"/>
                </a:solidFill>
                <a:latin typeface="Calibri"/>
              </a:rPr>
              <a:t>Syntax Corporation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5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502920" y="457200"/>
            <a:ext cx="201168" cy="201168"/>
          </a:xfrm>
          <a:prstGeom prst="triangle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32A0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41F66"/>
                </a:solidFill>
                <a:latin typeface="Georgia"/>
              </a:rPr>
              <a:t>One agent, end-to-end — read-only by default</a:t>
            </a:r>
          </a:p>
        </p:txBody>
      </p:sp>
      <p:pic>
        <p:nvPicPr>
          <p:cNvPr id="5" name="Picture 4" descr="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26951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7200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6203A"/>
                </a:solidFill>
                <a:latin typeface="Calibri"/>
              </a:rPr>
              <a:t>Ingest a supplier renewal quote → pull current prices from EBS via a governed MCP → apply deterministic renewal policy → stage a balanced PDOI batch for Import Price Catalogs. The buyer approves the renewed agreement in EBS — the agent never auto-approves a contract.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577"/>
                </a:solidFill>
                <a:latin typeface="Calibri"/>
              </a:rPr>
              <a:t>Syntax Corporation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5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502920" y="457200"/>
            <a:ext cx="201168" cy="201168"/>
          </a:xfrm>
          <a:prstGeom prst="triangle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32A0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41F66"/>
                </a:solidFill>
                <a:latin typeface="Georgia"/>
              </a:rPr>
              <a:t>EBS 19c · PAF sidecar · managed MCP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10881360" cy="58685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577"/>
                </a:solidFill>
                <a:latin typeface="Calibri"/>
              </a:rPr>
              <a:t>Syntax Corporation  ·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5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502920" y="457200"/>
            <a:ext cx="201168" cy="201168"/>
          </a:xfrm>
          <a:prstGeom prst="triangle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32A0"/>
                </a:solidFill>
                <a:latin typeface="Calibri"/>
              </a:rPr>
              <a:t>DETERMINISTIC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41F66"/>
                </a:solidFill>
                <a:latin typeface="Georgia"/>
              </a:rPr>
              <a:t>Auditable rules — outside the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09728" cy="868680"/>
          </a:xfrm>
          <a:prstGeom prst="rect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632A0"/>
                </a:solidFill>
                <a:latin typeface="Georgia"/>
              </a:rPr>
              <a:t>Price escalation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7627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6203A"/>
                </a:solidFill>
                <a:latin typeface="Calibri"/>
              </a:rPr>
              <a:t>Hold only when the increase breaches BOTH a 7% cap AND a $250 annual-impact floor — real over-charges caught, trivial ones ignored.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109728" cy="868680"/>
          </a:xfrm>
          <a:prstGeom prst="rect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632A0"/>
                </a:solidFill>
                <a:latin typeface="Georgia"/>
              </a:rPr>
              <a:t>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2783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6203A"/>
                </a:solidFill>
                <a:latin typeface="Calibri"/>
              </a:rPr>
              <a:t>Contiguous with the expiring agreement; length ≤ 36 months.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109728" cy="868680"/>
          </a:xfrm>
          <a:prstGeom prst="rect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632A0"/>
                </a:solidFill>
                <a:latin typeface="Georgia"/>
              </a:rPr>
              <a:t>Validity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7939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6203A"/>
                </a:solidFill>
                <a:latin typeface="Calibri"/>
              </a:rPr>
              <a:t>Item still active/orderable; supplier site active.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983480"/>
            <a:ext cx="109728" cy="868680"/>
          </a:xfrm>
          <a:prstGeom prst="rect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9834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632A0"/>
                </a:solidFill>
                <a:latin typeface="Georgia"/>
              </a:rPr>
              <a:t>Balance &amp;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30952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6203A"/>
                </a:solidFill>
                <a:latin typeface="Calibri"/>
              </a:rPr>
              <a:t>Header AMOUNT_AGREED = Σ(price×qty); PASS / HOLD / FAIL gate before any load.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577"/>
                </a:solidFill>
                <a:latin typeface="Calibri"/>
              </a:rPr>
              <a:t>Syntax Corporation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57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502920" y="457200"/>
            <a:ext cx="201168" cy="201168"/>
          </a:xfrm>
          <a:prstGeom prst="triangle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32A0"/>
                </a:solidFill>
                <a:latin typeface="Calibri"/>
              </a:rP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41F66"/>
                </a:solidFill>
                <a:latin typeface="Georgia"/>
              </a:rPr>
              <a:t>Verified live against EBS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697480" cy="210312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632A0"/>
                </a:solidFill>
                <a:latin typeface="Georgia"/>
              </a:rPr>
              <a:t>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tests green</a:t>
            </a:r>
          </a:p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(43 hermetic + 8 live)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64408" y="2011680"/>
            <a:ext cx="2697480" cy="210312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228600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632A0"/>
                </a:solidFill>
                <a:latin typeface="Georgia"/>
              </a:rPr>
              <a:t>BPA 4467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320040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golden record</a:t>
            </a:r>
          </a:p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HVAC Express, 5 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71616" y="2011680"/>
            <a:ext cx="2697480" cy="210312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71616" y="228600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632A0"/>
                </a:solidFill>
                <a:latin typeface="Georgia"/>
              </a:rPr>
              <a:t>$17,920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1616" y="320040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balanced renewal</a:t>
            </a:r>
          </a:p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batch (Σ price×qty)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78824" y="2011680"/>
            <a:ext cx="2697480" cy="210312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78824" y="228600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632A0"/>
                </a:solidFill>
                <a:latin typeface="Georgia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3200400"/>
            <a:ext cx="2697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SQL + write contract</a:t>
            </a:r>
          </a:p>
          <a:p>
            <a:pPr algn="ctr"/>
            <a:r>
              <a:rPr sz="1200" b="0" i="0">
                <a:solidFill>
                  <a:srgbClr val="5B6577"/>
                </a:solidFill>
                <a:latin typeface="Calibri"/>
              </a:rPr>
              <a:t>verified on the real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6203A"/>
                </a:solidFill>
                <a:latin typeface="Calibri"/>
              </a:rPr>
              <a:t>Python↔PL/SQL parity validated live; PDOI batch round-tripped through the real PO_HEADERS_INTERFACE / PO_LINES_INTERFACE and rolled back clean.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577"/>
                </a:solidFill>
                <a:latin typeface="Calibri"/>
              </a:rPr>
              <a:t>Syntax Corporation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5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502920" y="457200"/>
            <a:ext cx="201168" cy="201168"/>
          </a:xfrm>
          <a:prstGeom prst="triangle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32A0"/>
                </a:solidFill>
                <a:latin typeface="Calibri"/>
              </a:rP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41F66"/>
                </a:solidFill>
                <a:latin typeface="Georgia"/>
              </a:rPr>
              <a:t>Payback in weeks, not years</a:t>
            </a:r>
          </a:p>
        </p:txBody>
      </p:sp>
      <p:pic>
        <p:nvPicPr>
          <p:cNvPr id="5" name="Picture 4" descr="roi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658906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83680" y="1920240"/>
            <a:ext cx="4937760" cy="1051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01168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3CC85A"/>
                </a:solidFill>
                <a:latin typeface="Georgia"/>
              </a:rPr>
              <a:t>$614,000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212848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net annual savings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0" y="3154680"/>
            <a:ext cx="4937760" cy="1051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24612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0632A0"/>
                </a:solidFill>
                <a:latin typeface="Georgia"/>
              </a:rPr>
              <a:t>1.4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447288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payback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389120"/>
            <a:ext cx="4937760" cy="1051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448056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3CC85A"/>
                </a:solidFill>
                <a:latin typeface="Georgia"/>
              </a:rPr>
              <a:t>466%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681728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Calibri"/>
              </a:rPr>
              <a:t>3-year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577"/>
                </a:solidFill>
                <a:latin typeface="Calibri"/>
              </a:rPr>
              <a:t>Syntax Corporation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5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sosceles Triangle 1"/>
          <p:cNvSpPr/>
          <p:nvPr/>
        </p:nvSpPr>
        <p:spPr>
          <a:xfrm>
            <a:off x="502920" y="457200"/>
            <a:ext cx="201168" cy="201168"/>
          </a:xfrm>
          <a:prstGeom prst="triangle">
            <a:avLst/>
          </a:prstGeom>
          <a:solidFill>
            <a:srgbClr val="063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411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0632A0"/>
                </a:solidFill>
                <a:latin typeface="Calibri"/>
              </a:rPr>
              <a:t>COMMERCIALS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41F66"/>
                </a:solidFill>
                <a:latin typeface="Georgia"/>
              </a:rPr>
              <a:t>Transparent, fixed-fee + managed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632A0"/>
                </a:solidFill>
                <a:latin typeface="Calibri"/>
              </a:rPr>
              <a:t>Fixed-fee implementation: $60,800  ·  8 weeks  ·  $95/hr blended</a:t>
            </a:r>
          </a:p>
        </p:txBody>
      </p:sp>
      <p:pic>
        <p:nvPicPr>
          <p:cNvPr id="6" name="Picture 5" descr="t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0"/>
            <a:ext cx="5071461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2286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6577"/>
                </a:solidFill>
                <a:latin typeface="Calibri"/>
              </a:rPr>
              <a:t>Managed services / 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651760"/>
            <a:ext cx="4937760" cy="73152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76148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632A0"/>
                </a:solidFill>
                <a:latin typeface="Georgia"/>
              </a:rPr>
              <a:t>12-month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74320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16203A"/>
                </a:solidFill>
                <a:latin typeface="Calibri"/>
              </a:rPr>
              <a:t>$7,350/mo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309067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3CC85A"/>
                </a:solidFill>
                <a:latin typeface="Calibri"/>
              </a:rPr>
              <a:t>−0%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3520440"/>
            <a:ext cx="4937760" cy="73152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63016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632A0"/>
                </a:solidFill>
                <a:latin typeface="Georgia"/>
              </a:rPr>
              <a:t>24-month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61188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16203A"/>
                </a:solidFill>
                <a:latin typeface="Calibri"/>
              </a:rPr>
              <a:t>$6,615/mo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9593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3CC85A"/>
                </a:solidFill>
                <a:latin typeface="Calibri"/>
              </a:rPr>
              <a:t>−10%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389120"/>
            <a:ext cx="4937760" cy="73152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49884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632A0"/>
                </a:solidFill>
                <a:latin typeface="Georgia"/>
              </a:rPr>
              <a:t>36-month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480560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16203A"/>
                </a:solidFill>
                <a:latin typeface="Calibri"/>
              </a:rPr>
              <a:t>$5,880/mo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8280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3CC85A"/>
                </a:solidFill>
                <a:latin typeface="Calibri"/>
              </a:rPr>
              <a:t>−20%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5B6577"/>
                </a:solidFill>
                <a:latin typeface="Calibri"/>
              </a:rPr>
              <a:t>Syntax Corporation  ·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5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6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yntax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28800" cy="96560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37744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Renew every agreement — accurately, on time, on policy.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749039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EB4E6"/>
                </a:solidFill>
                <a:latin typeface="Calibri"/>
              </a:rPr>
              <a:t>Start with a read-only value assessment against your EBS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F4F7FC"/>
                </a:solidFill>
                <a:latin typeface="Calibri"/>
              </a:rPr>
              <a:t>Syntax Corporation ©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